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Source Code Pro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Mendoza Marathon Corporation-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marathon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company that hosts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marathons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the US, Canada, and Europe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Marathon Consulting Firm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d13e40df1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d13e40df1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Mendoza Marathon Corporation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d126696f6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d126696f6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</a:t>
            </a:r>
            <a:r>
              <a:rPr lang="en"/>
              <a:t>introduction</a:t>
            </a:r>
            <a:r>
              <a:rPr lang="en"/>
              <a:t> slide - CEO, Founder, about with the </a:t>
            </a:r>
            <a:r>
              <a:rPr lang="en"/>
              <a:t>company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-increase font or make it darker (font increased + changed)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opportunities</a:t>
            </a:r>
            <a:r>
              <a:rPr lang="en"/>
              <a:t>: </a:t>
            </a:r>
            <a:r>
              <a:rPr lang="en"/>
              <a:t>market</a:t>
            </a:r>
            <a:r>
              <a:rPr lang="en"/>
              <a:t> </a:t>
            </a:r>
            <a:r>
              <a:rPr lang="en"/>
              <a:t>penetration</a:t>
            </a:r>
            <a:r>
              <a:rPr lang="en"/>
              <a:t> in paper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d126696f6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d126696f6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Western States Endurance Run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out the wSER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out with product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126696f6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126696f6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Ties with weakness and threats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Maybe in paper add about </a:t>
            </a:r>
            <a:r>
              <a:rPr lang="en"/>
              <a:t>unused</a:t>
            </a:r>
            <a:r>
              <a:rPr lang="en"/>
              <a:t> bibs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d126696f6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d126696f6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2= </a:t>
            </a:r>
            <a:r>
              <a:rPr lang="en">
                <a:solidFill>
                  <a:schemeClr val="accent3"/>
                </a:solidFill>
              </a:rPr>
              <a:t>Partnership</a:t>
            </a:r>
            <a:r>
              <a:rPr lang="en"/>
              <a:t>= share same core values. Is </a:t>
            </a:r>
            <a:r>
              <a:rPr lang="en"/>
              <a:t>beneficial</a:t>
            </a:r>
            <a:r>
              <a:rPr lang="en"/>
              <a:t> to everyone and helps the company expand/grow.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MMC Store</a:t>
            </a:r>
            <a:r>
              <a:rPr lang="en">
                <a:solidFill>
                  <a:schemeClr val="dk1"/>
                </a:solidFill>
              </a:rPr>
              <a:t>= Better products bc of sporting stores, have logos on merch with sponsors/partners.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Create charity: </a:t>
            </a:r>
            <a:r>
              <a:rPr lang="en">
                <a:solidFill>
                  <a:schemeClr val="dk1"/>
                </a:solidFill>
              </a:rPr>
              <a:t>Will give runners a cause to run for, it will also demonstrate that all the money is not going to corporate.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d126696f6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d126696f6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conclusion, we recommend … #2 more than just price → charities, fits with core values, donation, partnership =grow brand maybe add more races (Asia)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 with market development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519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Mendoza Marathon Corporation</a:t>
            </a:r>
            <a:r>
              <a:rPr lang="en" sz="5900"/>
              <a:t> Case Study</a:t>
            </a:r>
            <a:endParaRPr sz="59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Kaitlyn Lynch, Chloe Webb, Jacob Verduzco, and Akshat Garg</a:t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1351" y="1622400"/>
            <a:ext cx="1252215" cy="141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175" y="1622400"/>
            <a:ext cx="1419851" cy="1419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2519050" y="2286000"/>
            <a:ext cx="38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Marathon Consulting Firm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Mendoza Marathon Corporation</a:t>
            </a:r>
            <a:endParaRPr sz="3600"/>
          </a:p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Host ultramarathons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</a:t>
            </a:r>
            <a:r>
              <a:rPr lang="en"/>
              <a:t>military</a:t>
            </a:r>
            <a:r>
              <a:rPr lang="en"/>
              <a:t>-style </a:t>
            </a:r>
            <a:r>
              <a:rPr lang="en"/>
              <a:t>obstacle</a:t>
            </a:r>
            <a:r>
              <a:rPr lang="en"/>
              <a:t>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Across the United States, Canada, &amp; Europe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CEO/Founder Danny Mendoza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Possibly</a:t>
            </a:r>
            <a:r>
              <a:rPr lang="en"/>
              <a:t> adding VIP </a:t>
            </a:r>
            <a:r>
              <a:rPr lang="en"/>
              <a:t>membership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-847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25" y="572600"/>
            <a:ext cx="6175950" cy="4436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5"/>
          <p:cNvSpPr/>
          <p:nvPr/>
        </p:nvSpPr>
        <p:spPr>
          <a:xfrm>
            <a:off x="2529753" y="1569494"/>
            <a:ext cx="2490000" cy="13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115562" y="1569494"/>
            <a:ext cx="2490000" cy="13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2529763" y="3247385"/>
            <a:ext cx="2490000" cy="168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115572" y="3247385"/>
            <a:ext cx="2490000" cy="168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2522100" y="3247175"/>
            <a:ext cx="249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</a:t>
            </a:r>
            <a:r>
              <a:rPr lang="en" sz="1200">
                <a:latin typeface="Oswald"/>
                <a:ea typeface="Oswald"/>
                <a:cs typeface="Oswald"/>
                <a:sym typeface="Oswald"/>
              </a:rPr>
              <a:t>Past 10yrs 57.8% (Asia+)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Entering new markets (diversify merch)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Local and worldwide advertising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Volunteer/charity programs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Partnerships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Improve website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529775" y="1569501"/>
            <a:ext cx="2490000" cy="13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</a:t>
            </a:r>
            <a:r>
              <a:rPr lang="en" sz="1200">
                <a:latin typeface="Oswald"/>
                <a:ea typeface="Oswald"/>
                <a:cs typeface="Oswald"/>
                <a:sym typeface="Oswald"/>
              </a:rPr>
              <a:t>Loyal Customer Base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Unique events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swald"/>
              <a:buChar char="●"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Combination of ultramarathons and military style obstacles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</a:t>
            </a:r>
            <a:r>
              <a:rPr lang="en" sz="1200">
                <a:latin typeface="Oswald"/>
                <a:ea typeface="Oswald"/>
                <a:cs typeface="Oswald"/>
                <a:sym typeface="Oswald"/>
              </a:rPr>
              <a:t>Strong Community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15575" y="1569501"/>
            <a:ext cx="2490000" cy="13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</a:t>
            </a:r>
            <a:r>
              <a:rPr lang="en" sz="1200">
                <a:latin typeface="Oswald"/>
                <a:ea typeface="Oswald"/>
                <a:cs typeface="Oswald"/>
                <a:sym typeface="Oswald"/>
              </a:rPr>
              <a:t>Design of race registration</a:t>
            </a:r>
            <a:endParaRPr sz="1200">
              <a:highlight>
                <a:schemeClr val="accent6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Customers leave MMC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115581" y="3247305"/>
            <a:ext cx="249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Technological </a:t>
            </a:r>
            <a:r>
              <a:rPr lang="en" sz="1200">
                <a:latin typeface="Oswald"/>
                <a:ea typeface="Oswald"/>
                <a:cs typeface="Oswald"/>
                <a:sym typeface="Oswald"/>
              </a:rPr>
              <a:t>challenges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chemeClr val="lt1"/>
                </a:highlight>
                <a:latin typeface="Oswald"/>
                <a:ea typeface="Oswald"/>
                <a:cs typeface="Oswald"/>
                <a:sym typeface="Oswald"/>
              </a:rPr>
              <a:t>- Public doesn’t like the idea</a:t>
            </a:r>
            <a:endParaRPr sz="1200">
              <a:highlight>
                <a:schemeClr val="lt1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"/>
                <a:ea typeface="Oswald"/>
                <a:cs typeface="Oswald"/>
                <a:sym typeface="Oswald"/>
              </a:rPr>
              <a:t>- Decrease of runners across the US and Europe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170425" y="190150"/>
            <a:ext cx="4045200" cy="8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lang="en"/>
              <a:t> 4 P’s</a:t>
            </a:r>
            <a:endParaRPr/>
          </a:p>
        </p:txBody>
      </p:sp>
      <p:sp>
        <p:nvSpPr>
          <p:cNvPr id="92" name="Google Shape;92;p16"/>
          <p:cNvSpPr txBox="1"/>
          <p:nvPr>
            <p:ph idx="2" type="body"/>
          </p:nvPr>
        </p:nvSpPr>
        <p:spPr>
          <a:xfrm>
            <a:off x="4791725" y="481800"/>
            <a:ext cx="4193100" cy="41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Char char="●"/>
            </a:pPr>
            <a:r>
              <a:rPr b="1" lang="en" sz="1150"/>
              <a:t>Product </a:t>
            </a:r>
            <a:r>
              <a:rPr lang="en" sz="1150"/>
              <a:t>(Good/Service)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Sell races/race tickets (An “Experience”/”Sense of belonging”)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Marathons/obstacle courses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Athletic, enjoyable, healthy, friendly competition</a:t>
            </a:r>
            <a:endParaRPr b="1" sz="1150"/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Char char="●"/>
            </a:pPr>
            <a:r>
              <a:rPr b="1" lang="en" sz="1150"/>
              <a:t>Promotion </a:t>
            </a:r>
            <a:r>
              <a:rPr lang="en" sz="1150"/>
              <a:t>(Communication)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Advertisements</a:t>
            </a:r>
            <a:r>
              <a:rPr lang="en" sz="1150"/>
              <a:t> (Creating social media + campaigns, </a:t>
            </a:r>
            <a:r>
              <a:rPr lang="en" sz="1150"/>
              <a:t>billboards</a:t>
            </a:r>
            <a:r>
              <a:rPr lang="en" sz="1150"/>
              <a:t>, TV commercials, local ads - radio stations)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^ Include a </a:t>
            </a:r>
            <a:r>
              <a:rPr lang="en" sz="1150"/>
              <a:t>mission</a:t>
            </a:r>
            <a:r>
              <a:rPr lang="en" sz="1150"/>
              <a:t> statement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Help options (Website chat bot, customer support line)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Partnerships/collabs/sponsorships</a:t>
            </a:r>
            <a:endParaRPr sz="1150"/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Char char="●"/>
            </a:pPr>
            <a:r>
              <a:rPr b="1" lang="en" sz="1150"/>
              <a:t>Price </a:t>
            </a:r>
            <a:r>
              <a:rPr lang="en" sz="1150"/>
              <a:t>(Exchanged)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Offer affordable tickets/memberships</a:t>
            </a:r>
            <a:endParaRPr sz="1150"/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Char char="●"/>
            </a:pPr>
            <a:r>
              <a:rPr b="1" lang="en" sz="1150"/>
              <a:t>Pl</a:t>
            </a:r>
            <a:r>
              <a:rPr b="1" lang="en" sz="1150"/>
              <a:t>ace </a:t>
            </a:r>
            <a:r>
              <a:rPr lang="en" sz="1150"/>
              <a:t>(Giving Product)</a:t>
            </a:r>
            <a:endParaRPr sz="11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en" sz="1150"/>
              <a:t>Ticket booths, online sales, + possible over-the-phone sales</a:t>
            </a:r>
            <a:endParaRPr sz="1150"/>
          </a:p>
        </p:txBody>
      </p:sp>
      <p:sp>
        <p:nvSpPr>
          <p:cNvPr id="93" name="Google Shape;93;p16"/>
          <p:cNvSpPr txBox="1"/>
          <p:nvPr/>
        </p:nvSpPr>
        <p:spPr>
          <a:xfrm>
            <a:off x="170425" y="1082950"/>
            <a:ext cx="344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Western States Endurance Run</a:t>
            </a:r>
            <a:endParaRPr b="1"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638550" y="81600"/>
            <a:ext cx="349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Source Code Pro"/>
                <a:ea typeface="Source Code Pro"/>
                <a:cs typeface="Source Code Pro"/>
                <a:sym typeface="Source Code Pro"/>
              </a:rPr>
              <a:t>Mendoza</a:t>
            </a:r>
            <a:endParaRPr b="1" sz="19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88975" y="1739875"/>
            <a:ext cx="3442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Product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100 mile race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Promotion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Suponsors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Qualifying</a:t>
            </a: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races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Price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$410 entry fee + online fees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Place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"/>
              <a:buChar char="-"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Held annual in California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Problems</a:t>
            </a:r>
            <a:endParaRPr/>
          </a:p>
        </p:txBody>
      </p:sp>
      <p:sp>
        <p:nvSpPr>
          <p:cNvPr id="101" name="Google Shape;101;p17"/>
          <p:cNvSpPr txBox="1"/>
          <p:nvPr>
            <p:ph idx="2" type="body"/>
          </p:nvPr>
        </p:nvSpPr>
        <p:spPr>
          <a:xfrm>
            <a:off x="4778925" y="724200"/>
            <a:ext cx="4148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There are two main problems: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Inefficient</a:t>
            </a:r>
            <a:r>
              <a:rPr lang="en" sz="1900"/>
              <a:t> Registration Process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Unused Bibs at the Events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235500" y="143900"/>
            <a:ext cx="8520600" cy="733500"/>
          </a:xfrm>
          <a:prstGeom prst="rect">
            <a:avLst/>
          </a:prstGeom>
          <a:noFill/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Alternatives: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434475"/>
            <a:ext cx="3999900" cy="3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E101A"/>
                </a:solidFill>
              </a:rPr>
              <a:t>Option 1: Increase Exclusive membership $2,200</a:t>
            </a:r>
            <a:endParaRPr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101A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rgbClr val="0E101A"/>
                </a:solidFill>
              </a:rPr>
              <a:t>Two free events per year</a:t>
            </a:r>
            <a:endParaRPr>
              <a:solidFill>
                <a:srgbClr val="0E101A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rgbClr val="0E101A"/>
                </a:solidFill>
              </a:rPr>
              <a:t>Exclusive member-only events</a:t>
            </a:r>
            <a:endParaRPr>
              <a:solidFill>
                <a:srgbClr val="0E101A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rgbClr val="0E101A"/>
                </a:solidFill>
              </a:rPr>
              <a:t>Discounts on official merchandise</a:t>
            </a:r>
            <a:endParaRPr>
              <a:solidFill>
                <a:srgbClr val="0E101A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rgbClr val="0E101A"/>
                </a:solidFill>
              </a:rPr>
              <a:t>Priority registration at every event</a:t>
            </a:r>
            <a:endParaRPr/>
          </a:p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4822350" y="143447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2: Increase Exclusive membership $2500-$2800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Have </a:t>
            </a:r>
            <a:r>
              <a:rPr lang="en">
                <a:highlight>
                  <a:schemeClr val="accent6"/>
                </a:highlight>
              </a:rPr>
              <a:t>p</a:t>
            </a:r>
            <a:r>
              <a:rPr lang="en">
                <a:highlight>
                  <a:schemeClr val="accent6"/>
                </a:highlight>
              </a:rPr>
              <a:t>artnerships</a:t>
            </a:r>
            <a:r>
              <a:rPr lang="en"/>
              <a:t> (Airlines, </a:t>
            </a:r>
            <a:r>
              <a:rPr lang="en">
                <a:highlight>
                  <a:schemeClr val="accent6"/>
                </a:highlight>
              </a:rPr>
              <a:t>h</a:t>
            </a:r>
            <a:r>
              <a:rPr lang="en">
                <a:highlight>
                  <a:schemeClr val="accent6"/>
                </a:highlight>
              </a:rPr>
              <a:t>otels</a:t>
            </a:r>
            <a:r>
              <a:rPr lang="en"/>
              <a:t>, and sporting stores)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Expand MMC Store with partnerships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entry fee for 5 races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</a:t>
            </a:r>
            <a:r>
              <a:rPr lang="en">
                <a:highlight>
                  <a:schemeClr val="accent6"/>
                </a:highlight>
              </a:rPr>
              <a:t>c</a:t>
            </a:r>
            <a:r>
              <a:rPr lang="en">
                <a:highlight>
                  <a:schemeClr val="accent6"/>
                </a:highlight>
              </a:rPr>
              <a:t>harity</a:t>
            </a:r>
            <a:r>
              <a:rPr lang="en"/>
              <a:t> and donate 15% of all money to 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Conclusion…</a:t>
            </a:r>
            <a:endParaRPr/>
          </a:p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265500" y="4099750"/>
            <a:ext cx="40452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#2: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Core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Charities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Donation (running for a cause)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Partnerships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Grow brand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5 “free” races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